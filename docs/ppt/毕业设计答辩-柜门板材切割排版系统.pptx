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市场规模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893C"/>
              </a:solidFill>
              <a:effectLst/>
            </c:spPr>
          </c:dPt>
          <c:dPt>
            <c:idx val="1"/>
            <c:bubble3D val="0"/>
            <c:spPr>
              <a:solidFill>
                <a:srgbClr val="4A90D9"/>
              </a:solidFill>
              <a:effectLst/>
            </c:spPr>
          </c:dPt>
          <c:dPt>
            <c:idx val="2"/>
            <c:bubble3D val="0"/>
            <c:spPr>
              <a:solidFill>
                <a:srgbClr val="27AE6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定制家具</c:v>
                </c:pt>
                <c:pt idx="1">
                  <c:v>板材加工</c:v>
                </c:pt>
                <c:pt idx="2">
                  <c:v>智能排版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</c:ser>
        <c:firstSliceAng val="0"/>
        <c:holeSize val="4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功能覆盖</c:v>
                </c:pt>
              </c:strCache>
            </c:strRef>
          </c:tx>
          <c:spPr>
            <a:solidFill>
              <a:srgbClr val="E8893C"/>
            </a:solidFill>
            <a:ln w="25400" cap="flat">
              <a:solidFill>
                <a:srgbClr val="E8893C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E8893C"/>
              </a:solidFill>
              <a:ln w="9525" cap="flat">
                <a:solidFill>
                  <a:srgbClr val="E889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用户管理</c:v>
                  </c:pt>
                  <c:pt idx="1">
                    <c:v>订单管理</c:v>
                  </c:pt>
                  <c:pt idx="2">
                    <c:v>排样算法</c:v>
                  </c:pt>
                  <c:pt idx="3">
                    <c:v>数据统计</c:v>
                  </c:pt>
                  <c:pt idx="4">
                    <c:v>余料管理</c:v>
                  </c:pt>
                  <c:pt idx="5">
                    <c:v>权限控制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</c:v>
                </c:pt>
                <c:pt idx="1">
                  <c:v>95</c:v>
                </c:pt>
                <c:pt idx="2">
                  <c:v>100</c:v>
                </c:pt>
                <c:pt idx="3">
                  <c:v>85</c:v>
                </c:pt>
                <c:pt idx="4">
                  <c:v>88</c:v>
                </c:pt>
                <c:pt idx="5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1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3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字段数</c:v>
                </c:pt>
              </c:strCache>
            </c:strRef>
          </c:tx>
          <c:spPr>
            <a:solidFill>
              <a:srgbClr val="E889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sys_user</c:v>
                  </c:pt>
                  <c:pt idx="1">
                    <c:v>customer</c:v>
                  </c:pt>
                  <c:pt idx="2">
                    <c:v>order</c:v>
                  </c:pt>
                  <c:pt idx="3">
                    <c:v>board</c:v>
                  </c:pt>
                  <c:pt idx="4">
                    <c:v>offcut</c:v>
                  </c:pt>
                  <c:pt idx="5">
                    <c:v>layout_result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5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1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3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用例数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用户认证</c:v>
                  </c:pt>
                  <c:pt idx="1">
                    <c:v>订单管理</c:v>
                  </c:pt>
                  <c:pt idx="2">
                    <c:v>排样算法</c:v>
                  </c:pt>
                  <c:pt idx="3">
                    <c:v>余料管理</c:v>
                  </c:pt>
                  <c:pt idx="4">
                    <c:v>前端交互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20</c:v>
                </c:pt>
                <c:pt idx="2">
                  <c:v>12</c:v>
                </c:pt>
                <c:pt idx="3">
                  <c:v>8</c:v>
                </c:pt>
                <c:pt idx="4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1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3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57200"/>
            <a:ext cx="3657600" cy="3657600"/>
          </a:xfrm>
          <a:prstGeom prst="gear6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3347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0"/>
            <a:ext cx="73152" cy="5143500"/>
          </a:xfrm>
          <a:prstGeom prst="rect">
            <a:avLst/>
          </a:prstGeom>
          <a:solidFill>
            <a:srgbClr val="E8893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spc="1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柜门板材切割排版系统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spc="400" kern="0" dirty="0">
                <a:solidFill>
                  <a:srgbClr val="E889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毕业设计（论文）答辩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答辩人：XXX</a:t>
            </a:r>
            <a:endParaRPr lang="en-US" sz="16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指导教师：XXX 教授</a:t>
            </a:r>
            <a:endParaRPr lang="en-US" sz="16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    业：软件工程</a:t>
            </a:r>
            <a:endParaRPr lang="en-US" sz="16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    期：2026年5月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800" kern="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4864" cy="502920"/>
          </a:xfrm>
          <a:prstGeom prst="rect">
            <a:avLst/>
          </a:prstGeom>
          <a:solidFill>
            <a:srgbClr val="E8893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399032"/>
            <a:ext cx="502920" cy="502920"/>
          </a:xfrm>
          <a:prstGeom prst="ellipse">
            <a:avLst/>
          </a:prstGeom>
          <a:solidFill>
            <a:srgbClr val="FFF3EB"/>
          </a:solidFill>
          <a:ln/>
        </p:spPr>
      </p:sp>
      <p:sp>
        <p:nvSpPr>
          <p:cNvPr id="5" name="Shape 3"/>
          <p:cNvSpPr/>
          <p:nvPr/>
        </p:nvSpPr>
        <p:spPr>
          <a:xfrm>
            <a:off x="982980" y="1467612"/>
            <a:ext cx="365760" cy="365760"/>
          </a:xfrm>
          <a:prstGeom prst="chevron">
            <a:avLst/>
          </a:prstGeom>
          <a:solidFill>
            <a:srgbClr val="E8893C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371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54864" cy="5029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084832"/>
            <a:ext cx="502920" cy="502920"/>
          </a:xfrm>
          <a:prstGeom prst="ellipse">
            <a:avLst/>
          </a:prstGeom>
          <a:solidFill>
            <a:srgbClr val="EBF3FC"/>
          </a:solidFill>
          <a:ln/>
        </p:spPr>
      </p:sp>
      <p:sp>
        <p:nvSpPr>
          <p:cNvPr id="9" name="Shape 7"/>
          <p:cNvSpPr/>
          <p:nvPr/>
        </p:nvSpPr>
        <p:spPr>
          <a:xfrm>
            <a:off x="982980" y="2153412"/>
            <a:ext cx="365760" cy="365760"/>
          </a:xfrm>
          <a:prstGeom prst="hexagon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2057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国内外研究现状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54864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2770632"/>
            <a:ext cx="502920" cy="502920"/>
          </a:xfrm>
          <a:prstGeom prst="ellipse">
            <a:avLst/>
          </a:prstGeom>
          <a:solidFill>
            <a:srgbClr val="E8F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982980" y="2839212"/>
            <a:ext cx="365760" cy="365760"/>
          </a:xfrm>
          <a:prstGeom prst="cub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2743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系统需求分析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3429000"/>
            <a:ext cx="54864" cy="5029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3456432"/>
            <a:ext cx="502920" cy="502920"/>
          </a:xfrm>
          <a:prstGeom prst="ellipse">
            <a:avLst/>
          </a:prstGeom>
          <a:solidFill>
            <a:srgbClr val="EBF3FC"/>
          </a:solidFill>
          <a:ln/>
        </p:spPr>
      </p:sp>
      <p:sp>
        <p:nvSpPr>
          <p:cNvPr id="17" name="Shape 15"/>
          <p:cNvSpPr/>
          <p:nvPr/>
        </p:nvSpPr>
        <p:spPr>
          <a:xfrm>
            <a:off x="982980" y="3525012"/>
            <a:ext cx="365760" cy="365760"/>
          </a:xfrm>
          <a:prstGeom prst="diamond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1554480" y="3429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系统架构设计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4114800"/>
            <a:ext cx="54864" cy="502920"/>
          </a:xfrm>
          <a:prstGeom prst="rect">
            <a:avLst/>
          </a:prstGeom>
          <a:solidFill>
            <a:srgbClr val="E8893C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4142232"/>
            <a:ext cx="502920" cy="502920"/>
          </a:xfrm>
          <a:prstGeom prst="ellipse">
            <a:avLst/>
          </a:prstGeom>
          <a:solidFill>
            <a:srgbClr val="FFF3EB"/>
          </a:solidFill>
          <a:ln/>
        </p:spPr>
      </p:sp>
      <p:sp>
        <p:nvSpPr>
          <p:cNvPr id="21" name="Shape 19"/>
          <p:cNvSpPr/>
          <p:nvPr/>
        </p:nvSpPr>
        <p:spPr>
          <a:xfrm>
            <a:off x="982980" y="4210812"/>
            <a:ext cx="365760" cy="365760"/>
          </a:xfrm>
          <a:prstGeom prst="lightningBolt">
            <a:avLst/>
          </a:prstGeom>
          <a:solidFill>
            <a:srgbClr val="E8893C"/>
          </a:solidFill>
          <a:ln/>
        </p:spPr>
      </p:sp>
      <p:sp>
        <p:nvSpPr>
          <p:cNvPr id="22" name="Text 20"/>
          <p:cNvSpPr/>
          <p:nvPr/>
        </p:nvSpPr>
        <p:spPr>
          <a:xfrm>
            <a:off x="1554480" y="4114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29200" y="1371600"/>
            <a:ext cx="54864" cy="50292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24" name="Shape 22"/>
          <p:cNvSpPr/>
          <p:nvPr/>
        </p:nvSpPr>
        <p:spPr>
          <a:xfrm>
            <a:off x="5212080" y="1399032"/>
            <a:ext cx="502920" cy="502920"/>
          </a:xfrm>
          <a:prstGeom prst="ellipse">
            <a:avLst/>
          </a:prstGeom>
          <a:solidFill>
            <a:srgbClr val="FFF3EB"/>
          </a:solidFill>
          <a:ln/>
        </p:spPr>
      </p:sp>
      <p:sp>
        <p:nvSpPr>
          <p:cNvPr id="25" name="Shape 23"/>
          <p:cNvSpPr/>
          <p:nvPr/>
        </p:nvSpPr>
        <p:spPr>
          <a:xfrm>
            <a:off x="5280660" y="1467612"/>
            <a:ext cx="365760" cy="365760"/>
          </a:xfrm>
          <a:prstGeom prst="gear6">
            <a:avLst/>
          </a:prstGeom>
          <a:solidFill>
            <a:srgbClr val="F2994A"/>
          </a:solidFill>
          <a:ln/>
        </p:spPr>
      </p:sp>
      <p:sp>
        <p:nvSpPr>
          <p:cNvPr id="26" name="Text 24"/>
          <p:cNvSpPr/>
          <p:nvPr/>
        </p:nvSpPr>
        <p:spPr>
          <a:xfrm>
            <a:off x="5852160" y="1371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算法设计与实现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29200" y="2057400"/>
            <a:ext cx="54864" cy="5029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8" name="Shape 26"/>
          <p:cNvSpPr/>
          <p:nvPr/>
        </p:nvSpPr>
        <p:spPr>
          <a:xfrm>
            <a:off x="5212080" y="2084832"/>
            <a:ext cx="502920" cy="502920"/>
          </a:xfrm>
          <a:prstGeom prst="ellipse">
            <a:avLst/>
          </a:prstGeom>
          <a:solidFill>
            <a:srgbClr val="EBF3FC"/>
          </a:solidFill>
          <a:ln/>
        </p:spPr>
      </p:sp>
      <p:sp>
        <p:nvSpPr>
          <p:cNvPr id="29" name="Shape 27"/>
          <p:cNvSpPr/>
          <p:nvPr/>
        </p:nvSpPr>
        <p:spPr>
          <a:xfrm>
            <a:off x="5280660" y="2153412"/>
            <a:ext cx="365760" cy="365760"/>
          </a:xfrm>
          <a:prstGeom prst="gear9">
            <a:avLst/>
          </a:prstGeom>
          <a:solidFill>
            <a:srgbClr val="4A90D9"/>
          </a:solidFill>
          <a:ln/>
        </p:spPr>
      </p:sp>
      <p:sp>
        <p:nvSpPr>
          <p:cNvPr id="30" name="Text 28"/>
          <p:cNvSpPr/>
          <p:nvPr/>
        </p:nvSpPr>
        <p:spPr>
          <a:xfrm>
            <a:off x="5852160" y="2057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系统实现 - 前端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29200" y="2743200"/>
            <a:ext cx="54864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2" name="Shape 30"/>
          <p:cNvSpPr/>
          <p:nvPr/>
        </p:nvSpPr>
        <p:spPr>
          <a:xfrm>
            <a:off x="5212080" y="2770632"/>
            <a:ext cx="502920" cy="502920"/>
          </a:xfrm>
          <a:prstGeom prst="ellipse">
            <a:avLst/>
          </a:prstGeom>
          <a:solidFill>
            <a:srgbClr val="E8F8F0"/>
          </a:solidFill>
          <a:ln/>
        </p:spPr>
      </p:sp>
      <p:sp>
        <p:nvSpPr>
          <p:cNvPr id="33" name="Shape 31"/>
          <p:cNvSpPr/>
          <p:nvPr/>
        </p:nvSpPr>
        <p:spPr>
          <a:xfrm>
            <a:off x="5280660" y="2839212"/>
            <a:ext cx="365760" cy="365760"/>
          </a:xfrm>
          <a:prstGeom prst="star5">
            <a:avLst/>
          </a:prstGeom>
          <a:solidFill>
            <a:srgbClr val="27AE60"/>
          </a:solidFill>
          <a:ln/>
        </p:spPr>
      </p:sp>
      <p:sp>
        <p:nvSpPr>
          <p:cNvPr id="34" name="Text 32"/>
          <p:cNvSpPr/>
          <p:nvPr/>
        </p:nvSpPr>
        <p:spPr>
          <a:xfrm>
            <a:off x="5852160" y="2743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系统实现 - 后端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029200" y="3429000"/>
            <a:ext cx="54864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6" name="Shape 34"/>
          <p:cNvSpPr/>
          <p:nvPr/>
        </p:nvSpPr>
        <p:spPr>
          <a:xfrm>
            <a:off x="5212080" y="3456432"/>
            <a:ext cx="502920" cy="502920"/>
          </a:xfrm>
          <a:prstGeom prst="ellipse">
            <a:avLst/>
          </a:prstGeom>
          <a:solidFill>
            <a:srgbClr val="E8F8F0"/>
          </a:solidFill>
          <a:ln/>
        </p:spPr>
      </p:sp>
      <p:sp>
        <p:nvSpPr>
          <p:cNvPr id="37" name="Shape 35"/>
          <p:cNvSpPr/>
          <p:nvPr/>
        </p:nvSpPr>
        <p:spPr>
          <a:xfrm>
            <a:off x="5280660" y="3525012"/>
            <a:ext cx="365760" cy="365760"/>
          </a:xfrm>
          <a:prstGeom prst="plus">
            <a:avLst/>
          </a:prstGeom>
          <a:solidFill>
            <a:srgbClr val="27AE60"/>
          </a:solidFill>
          <a:ln/>
        </p:spPr>
      </p:sp>
      <p:sp>
        <p:nvSpPr>
          <p:cNvPr id="38" name="Text 36"/>
          <p:cNvSpPr/>
          <p:nvPr/>
        </p:nvSpPr>
        <p:spPr>
          <a:xfrm>
            <a:off x="5852160" y="3429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系统测试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029200" y="4114800"/>
            <a:ext cx="54864" cy="502920"/>
          </a:xfrm>
          <a:prstGeom prst="rect">
            <a:avLst/>
          </a:prstGeom>
          <a:solidFill>
            <a:srgbClr val="E8893C"/>
          </a:solidFill>
          <a:ln/>
        </p:spPr>
      </p:sp>
      <p:sp>
        <p:nvSpPr>
          <p:cNvPr id="40" name="Shape 38"/>
          <p:cNvSpPr/>
          <p:nvPr/>
        </p:nvSpPr>
        <p:spPr>
          <a:xfrm>
            <a:off x="5212080" y="4142232"/>
            <a:ext cx="502920" cy="502920"/>
          </a:xfrm>
          <a:prstGeom prst="ellipse">
            <a:avLst/>
          </a:prstGeom>
          <a:solidFill>
            <a:srgbClr val="FFF3EB"/>
          </a:solidFill>
          <a:ln/>
        </p:spPr>
      </p:sp>
      <p:sp>
        <p:nvSpPr>
          <p:cNvPr id="41" name="Shape 39"/>
          <p:cNvSpPr/>
          <p:nvPr/>
        </p:nvSpPr>
        <p:spPr>
          <a:xfrm>
            <a:off x="5280660" y="4210812"/>
            <a:ext cx="365760" cy="365760"/>
          </a:xfrm>
          <a:prstGeom prst="ellipse">
            <a:avLst/>
          </a:prstGeom>
          <a:solidFill>
            <a:srgbClr val="E8893C"/>
          </a:solidFill>
          <a:ln/>
        </p:spPr>
      </p:sp>
      <p:sp>
        <p:nvSpPr>
          <p:cNvPr id="42" name="Text 40"/>
          <p:cNvSpPr/>
          <p:nvPr/>
        </p:nvSpPr>
        <p:spPr>
          <a:xfrm>
            <a:off x="5852160" y="4114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E8893C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600" kern="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研究背景与意义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943600" y="548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spc="200" kern="0" dirty="0">
                <a:solidFill>
                  <a:srgbClr val="E88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5000+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94360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亿元市场规模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3200400"/>
          </a:xfrm>
          <a:prstGeom prst="rect">
            <a:avLst/>
          </a:prstGeom>
          <a:solidFill>
            <a:srgbClr val="E8893C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508760"/>
            <a:ext cx="502920" cy="502920"/>
          </a:xfrm>
          <a:prstGeom prst="ellipse">
            <a:avLst/>
          </a:prstGeom>
          <a:solidFill>
            <a:srgbClr val="FFF3EB"/>
          </a:solidFill>
          <a:ln/>
        </p:spPr>
      </p:sp>
      <p:sp>
        <p:nvSpPr>
          <p:cNvPr id="9" name="Shape 7"/>
          <p:cNvSpPr/>
          <p:nvPr/>
        </p:nvSpPr>
        <p:spPr>
          <a:xfrm>
            <a:off x="662940" y="1577340"/>
            <a:ext cx="365760" cy="365760"/>
          </a:xfrm>
          <a:prstGeom prst="chevron">
            <a:avLst/>
          </a:prstGeom>
          <a:solidFill>
            <a:srgbClr val="E8893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行业背景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20116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定制家具市场规模持续扩大</a:t>
            </a:r>
            <a:endParaRPr lang="en-US" sz="15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板材切割是定制家具生产的核心环节</a:t>
            </a:r>
            <a:endParaRPr lang="en-US" sz="15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传统人工排版效率低、浪费严重</a:t>
            </a:r>
            <a:endParaRPr lang="en-US" sz="15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自动化排版系统可提升材料利用率15%-20%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54880" y="237744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377440"/>
            <a:ext cx="73152" cy="21945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2514600"/>
            <a:ext cx="502920" cy="502920"/>
          </a:xfrm>
          <a:prstGeom prst="ellipse">
            <a:avLst/>
          </a:prstGeom>
          <a:solidFill>
            <a:srgbClr val="EBF3FC"/>
          </a:solidFill>
          <a:ln/>
        </p:spPr>
      </p:sp>
      <p:sp>
        <p:nvSpPr>
          <p:cNvPr id="15" name="Shape 13"/>
          <p:cNvSpPr/>
          <p:nvPr/>
        </p:nvSpPr>
        <p:spPr>
          <a:xfrm>
            <a:off x="4960620" y="2583180"/>
            <a:ext cx="365760" cy="365760"/>
          </a:xfrm>
          <a:prstGeom prst="hexagon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2377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研究意义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29200" y="301752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降低企业生产成本，提高经济效益</a:t>
            </a:r>
            <a:endParaRPr lang="en-US" sz="15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减少材料浪费，响应绿色制造政策</a:t>
            </a:r>
            <a:endParaRPr lang="en-US" sz="15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推动家具制造业数字化转型升级</a:t>
            </a:r>
            <a:endParaRPr lang="en-US" sz="1500" dirty="0"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为同类排样问题提供技术参考</a:t>
            </a:r>
            <a:endParaRPr lang="en-US" sz="15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754880" y="1371600"/>
          <a:ext cx="228600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E8893C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600" kern="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国内外研究现状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08760"/>
            <a:ext cx="502920" cy="502920"/>
          </a:xfrm>
          <a:prstGeom prst="ellipse">
            <a:avLst/>
          </a:prstGeom>
          <a:solidFill>
            <a:srgbClr val="EBF3FC"/>
          </a:solidFill>
          <a:ln/>
        </p:spPr>
      </p:sp>
      <p:sp>
        <p:nvSpPr>
          <p:cNvPr id="6" name="Shape 4"/>
          <p:cNvSpPr/>
          <p:nvPr/>
        </p:nvSpPr>
        <p:spPr>
          <a:xfrm>
            <a:off x="662940" y="1577340"/>
            <a:ext cx="365760" cy="365760"/>
          </a:xfrm>
          <a:prstGeom prst="cloud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国外研究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20世纪60年代开始研究排样问题</a:t>
            </a:r>
            <a:endParaRPr lang="en-US" sz="15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提出了遗传算法、模拟退火等智能算法</a:t>
            </a:r>
            <a:endParaRPr lang="en-US" sz="15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商业软件如CutRite、Maxcut已成熟应用</a:t>
            </a:r>
            <a:endParaRPr lang="en-US" sz="15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算法优化和3D排样成为研究热点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508760"/>
            <a:ext cx="502920" cy="502920"/>
          </a:xfrm>
          <a:prstGeom prst="ellipse">
            <a:avLst/>
          </a:prstGeom>
          <a:solidFill>
            <a:srgbClr val="FFF3EB"/>
          </a:solidFill>
          <a:ln/>
        </p:spPr>
      </p:sp>
      <p:sp>
        <p:nvSpPr>
          <p:cNvPr id="11" name="Shape 9"/>
          <p:cNvSpPr/>
          <p:nvPr/>
        </p:nvSpPr>
        <p:spPr>
          <a:xfrm>
            <a:off x="4960620" y="1577340"/>
            <a:ext cx="365760" cy="365760"/>
          </a:xfrm>
          <a:prstGeom prst="hexagon">
            <a:avLst/>
          </a:prstGeom>
          <a:solidFill>
            <a:srgbClr val="E8893C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国内研究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起步较晚，但发展迅速</a:t>
            </a:r>
            <a:endParaRPr lang="en-US" sz="15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高校和企业合作研发排样系统</a:t>
            </a:r>
            <a:endParaRPr lang="en-US" sz="15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国产软件逐步替代进口产品</a:t>
            </a:r>
            <a:endParaRPr lang="en-US" sz="15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中小型家具企业需求旺盛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E8893C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600" kern="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系统需求分析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spc="200" kern="0" dirty="0">
                <a:solidFill>
                  <a:srgbClr val="E88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大功能模块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5087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440180" y="1577340"/>
            <a:ext cx="457200" cy="457200"/>
          </a:xfrm>
          <a:prstGeom prst="hexagon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用户管理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登录注册</a:t>
            </a:r>
            <a:endParaRPr lang="en-US" sz="14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</a:t>
            </a:r>
            <a:endParaRPr lang="en-US" sz="14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组织管理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13716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5087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366260" y="1577340"/>
            <a:ext cx="457200" cy="457200"/>
          </a:xfrm>
          <a:prstGeom prst="diamond">
            <a:avLst/>
          </a:prstGeom>
          <a:solidFill>
            <a:srgbClr val="E8893C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业务管理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0" y="265176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客户管理</a:t>
            </a:r>
            <a:endParaRPr lang="en-US" sz="14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订单管理</a:t>
            </a:r>
            <a:endParaRPr lang="en-US" sz="14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余料管理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137160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23760" y="15087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292340" y="1577340"/>
            <a:ext cx="457200" cy="457200"/>
          </a:xfrm>
          <a:prstGeom prst="star5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83680" y="265176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智能排样</a:t>
            </a:r>
            <a:endParaRPr lang="en-US" sz="14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结果可视化</a:t>
            </a:r>
            <a:endParaRPr lang="en-US" sz="140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数据统计</a:t>
            </a:r>
            <a:endParaRPr lang="en-US" sz="14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57200" y="3657600"/>
          <a:ext cx="27432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E8893C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600" kern="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系统架构设计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6400800" cy="594360"/>
          </a:xfrm>
          <a:prstGeom prst="roundRect">
            <a:avLst>
              <a:gd name="adj" fmla="val 7692"/>
            </a:avLst>
          </a:prstGeom>
          <a:solidFill>
            <a:srgbClr val="3B82F6">
              <a:alpha val="85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44475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623060" y="1513332"/>
            <a:ext cx="320040" cy="320040"/>
          </a:xfrm>
          <a:prstGeom prst="chevron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13716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83280" y="13716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+ Element Plus + Canvas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2103120"/>
            <a:ext cx="6400800" cy="594360"/>
          </a:xfrm>
          <a:prstGeom prst="roundRect">
            <a:avLst>
              <a:gd name="adj" fmla="val 7692"/>
            </a:avLst>
          </a:prstGeom>
          <a:solidFill>
            <a:srgbClr val="10B981">
              <a:alpha val="85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21762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623060" y="2244852"/>
            <a:ext cx="320040" cy="320040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21031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210312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REST API + JWT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71600" y="2834640"/>
            <a:ext cx="6400800" cy="594360"/>
          </a:xfrm>
          <a:prstGeom prst="roundRect">
            <a:avLst>
              <a:gd name="adj" fmla="val 7692"/>
            </a:avLst>
          </a:prstGeom>
          <a:solidFill>
            <a:srgbClr val="F59E0B">
              <a:alpha val="8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29077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623060" y="2976372"/>
            <a:ext cx="320040" cy="320040"/>
          </a:xfrm>
          <a:prstGeom prst="gear6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2011680" y="28346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83280" y="28346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用户/订单/排样/余料服务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371600" y="3566160"/>
            <a:ext cx="6400800" cy="594360"/>
          </a:xfrm>
          <a:prstGeom prst="roundRect">
            <a:avLst>
              <a:gd name="adj" fmla="val 7692"/>
            </a:avLst>
          </a:prstGeom>
          <a:solidFill>
            <a:srgbClr val="EF4444">
              <a:alpha val="85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54480" y="36393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623060" y="3707892"/>
            <a:ext cx="320040" cy="320040"/>
          </a:xfrm>
          <a:prstGeom prst="cube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2011680" y="35661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83280" y="35661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MyBatis-Plus + MySQL 8.0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89120" y="1965960"/>
            <a:ext cx="274320" cy="137160"/>
          </a:xfrm>
          <a:prstGeom prst="downArrow">
            <a:avLst/>
          </a:prstGeom>
          <a:solidFill>
            <a:srgbClr val="6B7394"/>
          </a:solidFill>
          <a:ln/>
        </p:spPr>
      </p:sp>
      <p:sp>
        <p:nvSpPr>
          <p:cNvPr id="25" name="Shape 23"/>
          <p:cNvSpPr/>
          <p:nvPr/>
        </p:nvSpPr>
        <p:spPr>
          <a:xfrm>
            <a:off x="4389120" y="2697480"/>
            <a:ext cx="274320" cy="137160"/>
          </a:xfrm>
          <a:prstGeom prst="downArrow">
            <a:avLst/>
          </a:prstGeom>
          <a:solidFill>
            <a:srgbClr val="6B7394"/>
          </a:solidFill>
          <a:ln/>
        </p:spPr>
      </p:sp>
      <p:sp>
        <p:nvSpPr>
          <p:cNvPr id="26" name="Shape 24"/>
          <p:cNvSpPr/>
          <p:nvPr/>
        </p:nvSpPr>
        <p:spPr>
          <a:xfrm>
            <a:off x="4389120" y="3429000"/>
            <a:ext cx="274320" cy="137160"/>
          </a:xfrm>
          <a:prstGeom prst="downArrow">
            <a:avLst/>
          </a:prstGeom>
          <a:solidFill>
            <a:srgbClr val="6B739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E8893C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600" kern="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数据库设计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943600" y="548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spc="200" kern="0" dirty="0">
                <a:solidFill>
                  <a:srgbClr val="E88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94360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张核心数据表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46634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表名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核心字段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3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sys_user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用户表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id, username, password, role_id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customer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客户表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id, name, phone, address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订单表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id, customer_id, status, create_time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board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板材表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id, length, width, thickness, material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offcut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余料表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id, board_id, length, width, is_used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layout_result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排样结果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id, order_id, utilization_rate, svg_data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0" descr=""/>
          <p:cNvGraphicFramePr/>
          <p:nvPr/>
        </p:nvGraphicFramePr>
        <p:xfrm>
          <a:off x="5760720" y="1371600"/>
          <a:ext cx="29260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E8893C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600" kern="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算法设计与实现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630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3291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749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订单、板材、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切割规则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94560" y="2103120"/>
            <a:ext cx="457200" cy="274320"/>
          </a:xfrm>
          <a:prstGeom prst="rightArrow">
            <a:avLst/>
          </a:prstGeom>
          <a:solidFill>
            <a:srgbClr val="E8893C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146304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14630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60320" y="3291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禁忌搜索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0320" y="3749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全局优化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搜索策略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2103120"/>
            <a:ext cx="457200" cy="274320"/>
          </a:xfrm>
          <a:prstGeom prst="rightArrow">
            <a:avLst/>
          </a:prstGeom>
          <a:solidFill>
            <a:srgbClr val="E8893C"/>
          </a:solidFill>
          <a:ln/>
        </p:spPr>
      </p:sp>
      <p:sp>
        <p:nvSpPr>
          <p:cNvPr id="14" name="Shape 12"/>
          <p:cNvSpPr/>
          <p:nvPr/>
        </p:nvSpPr>
        <p:spPr>
          <a:xfrm>
            <a:off x="4937760" y="146304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14630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754880" y="3291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天际线放置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3749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空间管理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智能排样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2103120"/>
            <a:ext cx="457200" cy="274320"/>
          </a:xfrm>
          <a:prstGeom prst="rightArrow">
            <a:avLst/>
          </a:prstGeom>
          <a:solidFill>
            <a:srgbClr val="E8893C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0" y="146304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32320" y="14630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949440" y="3291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输出结果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3749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排样方案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利用率计算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E8893C">
              <a:alpha val="8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核心创新：结合禁忌搜索全局优化 + 天际线算法空间管理，实现高效智能排样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E8893C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600" kern="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系统实现 - 前端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08660" y="1577340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排样可视化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920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Canvas 2D实时渲染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支持缩放、拖拽、旋转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371600"/>
            <a:ext cx="73152" cy="1371600"/>
          </a:xfrm>
          <a:prstGeom prst="rect">
            <a:avLst/>
          </a:prstGeom>
          <a:solidFill>
            <a:srgbClr val="E8893C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0" y="15087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097780" y="1577340"/>
            <a:ext cx="365760" cy="365760"/>
          </a:xfrm>
          <a:prstGeom prst="rect">
            <a:avLst/>
          </a:prstGeom>
          <a:solidFill>
            <a:srgbClr val="E889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订单管理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19202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订单CRUD、状态流转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批量操作、数据导出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73152" cy="13716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708660" y="3223260"/>
            <a:ext cx="365760" cy="365760"/>
          </a:xfrm>
          <a:prstGeom prst="hexagon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客户管理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3566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客户信息维护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联系人管理、地址管理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30175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3017520"/>
            <a:ext cx="73152" cy="1371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0" y="3154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5097780" y="3223260"/>
            <a:ext cx="365760" cy="365760"/>
          </a:xfrm>
          <a:prstGeom prst="diamond">
            <a:avLst/>
          </a:prstGeom>
          <a:solidFill>
            <a:srgbClr val="4A90D9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余料管理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0" y="3566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余料登记、绑定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智能推荐可用余料</a:t>
            </a:r>
            <a:endParaRPr lang="en-US" sz="1200" dirty="0"/>
          </a:p>
        </p:txBody>
      </p:sp>
      <p:pic>
        <p:nvPicPr>
          <p:cNvPr id="28" name="Image 0" descr="F:/Code/Java/cutting-system/target/frontend-algorithm-smo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3200400"/>
            <a:ext cx="3657600" cy="1645920"/>
          </a:xfrm>
          <a:prstGeom prst="ellipse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E8893C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600" kern="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系统实现 - 后端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spc="200" kern="0" dirty="0">
                <a:solidFill>
                  <a:srgbClr val="E88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大核心技术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1554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5544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08660" y="1623060"/>
            <a:ext cx="457200" cy="457200"/>
          </a:xfrm>
          <a:prstGeom prst="diamond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RESTful API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103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统一Result返回结构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规范接口契约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371600"/>
            <a:ext cx="73152" cy="1554480"/>
          </a:xfrm>
          <a:prstGeom prst="rect">
            <a:avLst/>
          </a:prstGeom>
          <a:solidFill>
            <a:srgbClr val="E8893C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15544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097780" y="1623060"/>
            <a:ext cx="457200" cy="457200"/>
          </a:xfrm>
          <a:prstGeom prst="hexagon">
            <a:avLst/>
          </a:prstGeom>
          <a:solidFill>
            <a:srgbClr val="E8893C"/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JWT认证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577840" y="2103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MVC拦截器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Token无状态认证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00400"/>
            <a:ext cx="73152" cy="1554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3832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08660" y="3451860"/>
            <a:ext cx="457200" cy="457200"/>
          </a:xfrm>
          <a:prstGeom prst="star5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RBAC权限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3931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多组织、多角色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细粒度权限管理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32004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200400"/>
            <a:ext cx="73152" cy="1554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0" y="33832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5097780" y="3451860"/>
            <a:ext cx="457200" cy="457200"/>
          </a:xfrm>
          <a:prstGeom prst="gear6">
            <a:avLst/>
          </a:prstGeom>
          <a:solidFill>
            <a:srgbClr val="4A90D9"/>
          </a:solidFill>
          <a:ln/>
        </p:spPr>
      </p:sp>
      <p:sp>
        <p:nvSpPr>
          <p:cNvPr id="28" name="Text 26"/>
          <p:cNvSpPr/>
          <p:nvPr/>
        </p:nvSpPr>
        <p:spPr>
          <a:xfrm>
            <a:off x="557784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算法接口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577840" y="3931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 /algorithm/answer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返回排样方案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E8893C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600" kern="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系统测试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spc="200" kern="0" dirty="0">
                <a:solidFill>
                  <a:srgbClr val="E88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个测试用例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5720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4206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测试模块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用例数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通过率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3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用户认证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订单管理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排样算法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余料管理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前端交互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0" descr=""/>
          <p:cNvGraphicFramePr/>
          <p:nvPr/>
        </p:nvGraphicFramePr>
        <p:xfrm>
          <a:off x="5303520" y="1371600"/>
          <a:ext cx="34747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5303520" y="3840480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27AE60">
              <a:alpha val="85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5303520" y="3840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通过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E8893C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600" kern="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总结与展望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3200400"/>
          </a:xfrm>
          <a:prstGeom prst="rect">
            <a:avLst/>
          </a:prstGeom>
          <a:solidFill>
            <a:srgbClr val="E8893C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502920" cy="502920"/>
          </a:xfrm>
          <a:prstGeom prst="ellipse">
            <a:avLst/>
          </a:prstGeom>
          <a:solidFill>
            <a:srgbClr val="FFF3EB"/>
          </a:solidFill>
          <a:ln/>
        </p:spPr>
      </p:sp>
      <p:sp>
        <p:nvSpPr>
          <p:cNvPr id="7" name="Shape 5"/>
          <p:cNvSpPr/>
          <p:nvPr/>
        </p:nvSpPr>
        <p:spPr>
          <a:xfrm>
            <a:off x="662940" y="1577340"/>
            <a:ext cx="365760" cy="365760"/>
          </a:xfrm>
          <a:prstGeom prst="plus">
            <a:avLst/>
          </a:prstGeom>
          <a:solidFill>
            <a:srgbClr val="E8893C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工作总结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完成了系统需求分析和架构设计</a:t>
            </a:r>
            <a:endParaRPr lang="en-US" sz="15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实现了基于禁忌搜索的智能排样算法</a:t>
            </a:r>
            <a:endParaRPr lang="en-US" sz="15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开发了完整的Web端和小程序端</a:t>
            </a:r>
            <a:endParaRPr lang="en-US" sz="15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实现了RBAC权限控制和多组织管理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71600"/>
            <a:ext cx="73152" cy="32004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Shape 10"/>
          <p:cNvSpPr/>
          <p:nvPr/>
        </p:nvSpPr>
        <p:spPr>
          <a:xfrm>
            <a:off x="4892040" y="1508760"/>
            <a:ext cx="502920" cy="502920"/>
          </a:xfrm>
          <a:prstGeom prst="ellipse">
            <a:avLst/>
          </a:prstGeom>
          <a:solidFill>
            <a:srgbClr val="EBF3FC"/>
          </a:solidFill>
          <a:ln/>
        </p:spPr>
      </p:sp>
      <p:sp>
        <p:nvSpPr>
          <p:cNvPr id="13" name="Shape 11"/>
          <p:cNvSpPr/>
          <p:nvPr/>
        </p:nvSpPr>
        <p:spPr>
          <a:xfrm>
            <a:off x="4960620" y="1577340"/>
            <a:ext cx="365760" cy="365760"/>
          </a:xfrm>
          <a:prstGeom prst="rightArrow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29200" y="20116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引入3D排样算法</a:t>
            </a:r>
            <a:endParaRPr lang="en-US" sz="15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集成CAD图纸导入功能</a:t>
            </a:r>
            <a:endParaRPr lang="en-US" sz="15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对接MES生产系统</a:t>
            </a:r>
            <a:endParaRPr lang="en-US" sz="15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1B21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优化算法性能和用户体验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3657600" cy="3657600"/>
          </a:xfrm>
          <a:prstGeom prst="gear6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2743200" cy="2743200"/>
          </a:xfrm>
          <a:prstGeom prst="gear9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C3347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" y="0"/>
            <a:ext cx="73152" cy="5143500"/>
          </a:xfrm>
          <a:prstGeom prst="rect">
            <a:avLst/>
          </a:prstGeom>
          <a:solidFill>
            <a:srgbClr val="E889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1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 谢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371600" y="256032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E889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感谢指导教师的悉心指导</a:t>
            </a:r>
            <a:endParaRPr lang="en-US" sz="1800" dirty="0"/>
          </a:p>
          <a:p>
            <a:pPr algn="ctr"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E889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感谢各位评委老师的宝贵意见</a:t>
            </a:r>
            <a:endParaRPr lang="en-US" sz="1800" dirty="0"/>
          </a:p>
          <a:p>
            <a:pPr algn="ctr" indent="0" marL="0">
              <a:lnSpc>
                <a:spcPct val="180000"/>
              </a:lnSpc>
              <a:buNone/>
            </a:pPr>
            <a:r>
              <a:rPr lang="en-US" sz="1800" dirty="0">
                <a:solidFill>
                  <a:srgbClr val="E889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感谢同学们的帮助与支持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请各位老师批评指正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柜门板材切割排版系统 - 毕业设计答辩</dc:title>
  <dc:subject>PptxGenJS Presentation</dc:subject>
  <dc:creator>青舶</dc:creator>
  <cp:lastModifiedBy>青舶</cp:lastModifiedBy>
  <cp:revision>1</cp:revision>
  <dcterms:created xsi:type="dcterms:W3CDTF">2026-05-25T09:37:35Z</dcterms:created>
  <dcterms:modified xsi:type="dcterms:W3CDTF">2026-05-25T09:37:35Z</dcterms:modified>
</cp:coreProperties>
</file>