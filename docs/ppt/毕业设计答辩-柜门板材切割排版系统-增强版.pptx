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893C"/>
              </a:solidFill>
              <a:effectLst/>
            </c:spPr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定制家具</c:v>
                </c:pt>
                <c:pt idx="1">
                  <c:v>板材加工</c:v>
                </c:pt>
                <c:pt idx="2">
                  <c:v>智能排版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功能覆盖</c:v>
                </c:pt>
              </c:strCache>
            </c:strRef>
          </c:tx>
          <c:spPr>
            <a:solidFill>
              <a:srgbClr val="E8893C"/>
            </a:solidFill>
            <a:ln w="25400" cap="flat">
              <a:solidFill>
                <a:srgbClr val="E8893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8893C"/>
              </a:solidFill>
              <a:ln w="9525" cap="flat">
                <a:solidFill>
                  <a:srgbClr val="E889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用户管理</c:v>
                  </c:pt>
                  <c:pt idx="1">
                    <c:v>订单管理</c:v>
                  </c:pt>
                  <c:pt idx="2">
                    <c:v>排样算法</c:v>
                  </c:pt>
                  <c:pt idx="3">
                    <c:v>数据统计</c:v>
                  </c:pt>
                  <c:pt idx="4">
                    <c:v>余料管理</c:v>
                  </c:pt>
                  <c:pt idx="5">
                    <c:v>权限控制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85</c:v>
                </c:pt>
                <c:pt idx="4">
                  <c:v>88</c:v>
                </c:pt>
                <c:pt idx="5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字段数</c:v>
                </c:pt>
              </c:strCache>
            </c:strRef>
          </c:tx>
          <c:spPr>
            <a:solidFill>
              <a:srgbClr val="E889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sys_user</c:v>
                  </c:pt>
                  <c:pt idx="1">
                    <c:v>customer</c:v>
                  </c:pt>
                  <c:pt idx="2">
                    <c:v>order</c:v>
                  </c:pt>
                  <c:pt idx="3">
                    <c:v>board</c:v>
                  </c:pt>
                  <c:pt idx="4">
                    <c:v>offcut</c:v>
                  </c:pt>
                  <c:pt idx="5">
                    <c:v>layout_result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用户认证</c:v>
                  </c:pt>
                  <c:pt idx="1">
                    <c:v>订单管理</c:v>
                  </c:pt>
                  <c:pt idx="2">
                    <c:v>排样算法</c:v>
                  </c:pt>
                  <c:pt idx="3">
                    <c:v>余料管理</c:v>
                  </c:pt>
                  <c:pt idx="4">
                    <c:v>前端交互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12</c:v>
                </c:pt>
                <c:pt idx="3">
                  <c:v>8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E889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4A90D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457200"/>
            <a:ext cx="3200400" cy="3200400"/>
          </a:xfrm>
          <a:prstGeom prst="gear6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200400"/>
            <a:ext cx="2286000" cy="2286000"/>
          </a:xfrm>
          <a:prstGeom prst="gear9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3347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73152" cy="51435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1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柜门板材切割排版系统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spc="400" kern="0" dirty="0">
                <a:solidFill>
                  <a:srgbClr val="E88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毕业设计（论文）答辩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答辩人：XXX</a:t>
            </a:r>
            <a:endParaRPr lang="en-US" sz="16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指导教师：XXX 教授</a:t>
            </a:r>
            <a:endParaRPr lang="en-US" sz="16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    业：软件工程</a:t>
            </a:r>
            <a:endParaRPr lang="en-US" sz="16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    期：2026年5月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E8893C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8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4864" cy="50292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99032"/>
            <a:ext cx="502920" cy="502920"/>
          </a:xfrm>
          <a:prstGeom prst="ellipse">
            <a:avLst/>
          </a:prstGeom>
          <a:solidFill>
            <a:srgbClr val="FFF3EB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2980" y="1467612"/>
            <a:ext cx="365760" cy="365760"/>
          </a:xfrm>
          <a:prstGeom prst="chevron">
            <a:avLst/>
          </a:prstGeom>
          <a:solidFill>
            <a:srgbClr val="E8893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54864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84832"/>
            <a:ext cx="502920" cy="502920"/>
          </a:xfrm>
          <a:prstGeom prst="ellipse">
            <a:avLst/>
          </a:prstGeom>
          <a:solidFill>
            <a:srgbClr val="EBF3F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82980" y="2153412"/>
            <a:ext cx="365760" cy="365760"/>
          </a:xfrm>
          <a:prstGeom prst="hexagon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770632"/>
            <a:ext cx="502920" cy="502920"/>
          </a:xfrm>
          <a:prstGeom prst="ellipse">
            <a:avLst/>
          </a:prstGeom>
          <a:solidFill>
            <a:srgbClr val="E8F8F0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2980" y="2839212"/>
            <a:ext cx="365760" cy="365760"/>
          </a:xfrm>
          <a:prstGeom prst="cub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系统需求分析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54864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456432"/>
            <a:ext cx="502920" cy="502920"/>
          </a:xfrm>
          <a:prstGeom prst="ellipse">
            <a:avLst/>
          </a:prstGeom>
          <a:solidFill>
            <a:srgbClr val="EBF3FC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2980" y="3525012"/>
            <a:ext cx="365760" cy="365760"/>
          </a:xfrm>
          <a:prstGeom prst="diamond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4864" cy="50292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142232"/>
            <a:ext cx="502920" cy="502920"/>
          </a:xfrm>
          <a:prstGeom prst="ellipse">
            <a:avLst/>
          </a:prstGeom>
          <a:solidFill>
            <a:srgbClr val="FFF3EB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82980" y="4210812"/>
            <a:ext cx="365760" cy="365760"/>
          </a:xfrm>
          <a:prstGeom prst="lightningBolt">
            <a:avLst/>
          </a:prstGeom>
          <a:solidFill>
            <a:srgbClr val="E8893C"/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0" y="1371600"/>
            <a:ext cx="54864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080" y="1399032"/>
            <a:ext cx="502920" cy="502920"/>
          </a:xfrm>
          <a:prstGeom prst="ellipse">
            <a:avLst/>
          </a:prstGeom>
          <a:solidFill>
            <a:srgbClr val="FFF3EB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80660" y="1467612"/>
            <a:ext cx="365760" cy="365760"/>
          </a:xfrm>
          <a:prstGeom prst="gear6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算法设计与实现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0" y="2057400"/>
            <a:ext cx="54864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2084832"/>
            <a:ext cx="502920" cy="502920"/>
          </a:xfrm>
          <a:prstGeom prst="ellipse">
            <a:avLst/>
          </a:prstGeom>
          <a:solidFill>
            <a:srgbClr val="EBF3FC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280660" y="2153412"/>
            <a:ext cx="365760" cy="365760"/>
          </a:xfrm>
          <a:prstGeom prst="gear9">
            <a:avLst/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 - 前端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29200" y="274320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Shape 31"/>
          <p:cNvSpPr/>
          <p:nvPr/>
        </p:nvSpPr>
        <p:spPr>
          <a:xfrm>
            <a:off x="5212080" y="2770632"/>
            <a:ext cx="502920" cy="502920"/>
          </a:xfrm>
          <a:prstGeom prst="ellipse">
            <a:avLst/>
          </a:prstGeom>
          <a:solidFill>
            <a:srgbClr val="E8F8F0">
              <a:alpha val="7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80660" y="2839212"/>
            <a:ext cx="365760" cy="365760"/>
          </a:xfrm>
          <a:prstGeom prst="star5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 - 后端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0" y="342900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Shape 35"/>
          <p:cNvSpPr/>
          <p:nvPr/>
        </p:nvSpPr>
        <p:spPr>
          <a:xfrm>
            <a:off x="5212080" y="3456432"/>
            <a:ext cx="502920" cy="502920"/>
          </a:xfrm>
          <a:prstGeom prst="ellipse">
            <a:avLst/>
          </a:prstGeom>
          <a:solidFill>
            <a:srgbClr val="E8F8F0">
              <a:alpha val="7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0660" y="3525012"/>
            <a:ext cx="365760" cy="365760"/>
          </a:xfrm>
          <a:prstGeom prst="plus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29200" y="4114800"/>
            <a:ext cx="54864" cy="50292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41" name="Shape 39"/>
          <p:cNvSpPr/>
          <p:nvPr/>
        </p:nvSpPr>
        <p:spPr>
          <a:xfrm>
            <a:off x="5212080" y="4142232"/>
            <a:ext cx="502920" cy="502920"/>
          </a:xfrm>
          <a:prstGeom prst="ellipse">
            <a:avLst/>
          </a:prstGeom>
          <a:solidFill>
            <a:srgbClr val="FFF3EB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80660" y="4210812"/>
            <a:ext cx="365760" cy="365760"/>
          </a:xfrm>
          <a:prstGeom prst="ellipse">
            <a:avLst/>
          </a:prstGeom>
          <a:solidFill>
            <a:srgbClr val="E8893C"/>
          </a:solidFill>
          <a:ln/>
        </p:spPr>
      </p:sp>
      <p:sp>
        <p:nvSpPr>
          <p:cNvPr id="43" name="Text 41"/>
          <p:cNvSpPr/>
          <p:nvPr/>
        </p:nvSpPr>
        <p:spPr>
          <a:xfrm>
            <a:off x="585216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研究背景与意义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6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5000+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亿元市场规模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FFF3EB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2940" y="1577340"/>
            <a:ext cx="365760" cy="365760"/>
          </a:xfrm>
          <a:prstGeom prst="chevron">
            <a:avLst/>
          </a:prstGeom>
          <a:solidFill>
            <a:srgbClr val="E8893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行业背景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定制家具市场规模持续扩大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板材切割是定制家具生产的核心环节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传统人工排版效率低、浪费严重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自动化排版系统可提升材料利用率15%-20%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77440"/>
            <a:ext cx="73152" cy="21945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2514600"/>
            <a:ext cx="502920" cy="502920"/>
          </a:xfrm>
          <a:prstGeom prst="ellipse">
            <a:avLst/>
          </a:prstGeom>
          <a:solidFill>
            <a:srgbClr val="EBF3FC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960620" y="2583180"/>
            <a:ext cx="365760" cy="365760"/>
          </a:xfrm>
          <a:prstGeom prst="hexagon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降低企业生产成本，提高经济效益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减少材料浪费，响应绿色制造政策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推动家具制造业数字化转型升级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为同类排样问题提供技术参考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754880" y="1371600"/>
          <a:ext cx="22860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国内外研究现状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EBF3FC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940" y="1577340"/>
            <a:ext cx="365760" cy="365760"/>
          </a:xfrm>
          <a:prstGeom prst="cloud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国外研究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20世纪60年代开始研究排样问题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提出了遗传算法、模拟退火等智能算法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商业软件如CutRite、Maxcut已成熟应用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算法优化和3D排样成为研究热点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FFF3EB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0620" y="1577340"/>
            <a:ext cx="365760" cy="365760"/>
          </a:xfrm>
          <a:prstGeom prst="hexagon">
            <a:avLst/>
          </a:prstGeom>
          <a:solidFill>
            <a:srgbClr val="E8893C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国内研究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起步较晚，但发展迅速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高校和企业合作研发排样系统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国产软件逐步替代进口产品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中小型家具企业需求旺盛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系统需求分析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6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大功能模块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508760"/>
            <a:ext cx="594360" cy="5943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40180" y="1577340"/>
            <a:ext cx="457200" cy="457200"/>
          </a:xfrm>
          <a:prstGeom prst="hexagon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登录注册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组织管理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508760"/>
            <a:ext cx="594360" cy="5943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366260" y="1577340"/>
            <a:ext cx="457200" cy="457200"/>
          </a:xfrm>
          <a:prstGeom prst="diamond">
            <a:avLst/>
          </a:prstGeom>
          <a:solidFill>
            <a:srgbClr val="E8893C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业务管理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客户管理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508760"/>
            <a:ext cx="594360" cy="5943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292340" y="1577340"/>
            <a:ext cx="457200" cy="457200"/>
          </a:xfrm>
          <a:prstGeom prst="star5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26517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智能排样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3657600"/>
          <a:ext cx="27432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系统架构设计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594360"/>
          </a:xfrm>
          <a:prstGeom prst="roundRect">
            <a:avLst>
              <a:gd name="adj" fmla="val 7692"/>
            </a:avLst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444752"/>
            <a:ext cx="457200" cy="4572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23060" y="1513332"/>
            <a:ext cx="320040" cy="320040"/>
          </a:xfrm>
          <a:prstGeom prst="chevron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3716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Element Plus + Canvas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6400800" cy="594360"/>
          </a:xfrm>
          <a:prstGeom prst="roundRect">
            <a:avLst>
              <a:gd name="adj" fmla="val 7692"/>
            </a:avLst>
          </a:prstGeom>
          <a:solidFill>
            <a:srgbClr val="10B981">
              <a:alpha val="85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54480" y="2176272"/>
            <a:ext cx="457200" cy="4572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3060" y="2244852"/>
            <a:ext cx="320040" cy="320040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103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REST API + JWT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834640"/>
            <a:ext cx="6400800" cy="594360"/>
          </a:xfrm>
          <a:prstGeom prst="roundRect">
            <a:avLst>
              <a:gd name="adj" fmla="val 7692"/>
            </a:avLst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54480" y="2907792"/>
            <a:ext cx="457200" cy="4572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3060" y="2976372"/>
            <a:ext cx="320040" cy="320040"/>
          </a:xfrm>
          <a:prstGeom prst="gear6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28346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用户/订单/排样/余料服务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3566160"/>
            <a:ext cx="640080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85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554480" y="3639312"/>
            <a:ext cx="457200" cy="4572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3060" y="3707892"/>
            <a:ext cx="320040" cy="320040"/>
          </a:xfrm>
          <a:prstGeom prst="cub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0" y="3566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35661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 + MySQL 8.0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1965960"/>
            <a:ext cx="274320" cy="137160"/>
          </a:xfrm>
          <a:prstGeom prst="downArrow">
            <a:avLst/>
          </a:prstGeom>
          <a:solidFill>
            <a:srgbClr val="6B7394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0" y="2697480"/>
            <a:ext cx="274320" cy="137160"/>
          </a:xfrm>
          <a:prstGeom prst="downArrow">
            <a:avLst/>
          </a:prstGeom>
          <a:solidFill>
            <a:srgbClr val="6B7394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3429000"/>
            <a:ext cx="274320" cy="137160"/>
          </a:xfrm>
          <a:prstGeom prst="downArrow">
            <a:avLst/>
          </a:prstGeom>
          <a:solidFill>
            <a:srgbClr val="6B739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数据库设计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6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张核心数据表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表名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核心字段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sys_user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用户表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username, password, role_id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客户表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name, phone, address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订单表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customer_id, status, create_time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board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板材表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length, width, thickness, material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offcut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余料表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board_id, length, width, is_used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layout_result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排样结果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order_id, utilization_rate, svg_data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760720" y="1371600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算法设计与实现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订单、板材、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切割规则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103120"/>
            <a:ext cx="457200" cy="274320"/>
          </a:xfrm>
          <a:prstGeom prst="rightArrow">
            <a:avLst/>
          </a:prstGeom>
          <a:solidFill>
            <a:srgbClr val="E8893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46304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禁忌搜索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全局优化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搜索策略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457200" cy="274320"/>
          </a:xfrm>
          <a:prstGeom prst="rightArrow">
            <a:avLst/>
          </a:prstGeom>
          <a:solidFill>
            <a:srgbClr val="E889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46304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天际线放置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智能排样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103120"/>
            <a:ext cx="457200" cy="274320"/>
          </a:xfrm>
          <a:prstGeom prst="rightArrow">
            <a:avLst/>
          </a:prstGeom>
          <a:solidFill>
            <a:srgbClr val="E889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146304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4944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排样方案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利用率计算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893C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核心创新：结合禁忌搜索全局优化 + 天际线算法空间管理，实现高效智能排样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系统实现 - 前端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8660" y="15773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排样可视化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2D实时渲染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支持缩放、拖拽、旋转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71600"/>
            <a:ext cx="73152" cy="13716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508760"/>
            <a:ext cx="502920" cy="5029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97780" y="1577340"/>
            <a:ext cx="365760" cy="36576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订单CRUD、状态流转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批量操作、数据导出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" y="3223260"/>
            <a:ext cx="365760" cy="365760"/>
          </a:xfrm>
          <a:prstGeom prst="hexagon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客户信息维护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联系人管理、地址管理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017520"/>
            <a:ext cx="73152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3154680"/>
            <a:ext cx="502920" cy="5029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97780" y="3223260"/>
            <a:ext cx="365760" cy="365760"/>
          </a:xfrm>
          <a:prstGeom prst="diamond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余料登记、绑定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智能推荐可用余料</a:t>
            </a:r>
            <a:endParaRPr lang="en-US" sz="1200" dirty="0"/>
          </a:p>
        </p:txBody>
      </p:sp>
      <p:pic>
        <p:nvPicPr>
          <p:cNvPr id="28" name="Image 0" descr="F:/Code/Java/cutting-system/target/frontend-algorithm-sm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0"/>
            <a:ext cx="3657600" cy="164592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系统实现 - 后端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6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大核心技术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8660" y="1623060"/>
            <a:ext cx="457200" cy="457200"/>
          </a:xfrm>
          <a:prstGeom prst="diamond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统一Result返回结构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规范接口契约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73152" cy="155448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554480"/>
            <a:ext cx="594360" cy="5943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097780" y="1623060"/>
            <a:ext cx="457200" cy="457200"/>
          </a:xfrm>
          <a:prstGeom prst="hexagon">
            <a:avLst/>
          </a:prstGeom>
          <a:solidFill>
            <a:srgbClr val="E8893C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MVC拦截器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Token无状态认证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73152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" y="3451860"/>
            <a:ext cx="457200" cy="457200"/>
          </a:xfrm>
          <a:prstGeom prst="star5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RBAC权限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多组织、多角色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细粒度权限管理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32004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200400"/>
            <a:ext cx="73152" cy="1554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3383280"/>
            <a:ext cx="594360" cy="5943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097780" y="3451860"/>
            <a:ext cx="457200" cy="457200"/>
          </a:xfrm>
          <a:prstGeom prst="gear6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算法接口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7784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/algorithm/answer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返回排样方案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系统测试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6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个测试用例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5720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测试模块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用例数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通过率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用户认证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订单管理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排样算法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余料管理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前端交互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303520" y="137160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303520" y="384048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7AE60">
              <a:alpha val="8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530352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通过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总结与展望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FFF3EB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940" y="1577340"/>
            <a:ext cx="365760" cy="365760"/>
          </a:xfrm>
          <a:prstGeom prst="plus">
            <a:avLst/>
          </a:prstGeom>
          <a:solidFill>
            <a:srgbClr val="E8893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完成了系统需求分析和架构设计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实现了基于禁忌搜索的智能排样算法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开发了完整的Web端和小程序端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实现了RBAC权限控制和多组织管理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73152" cy="3200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EBF3FC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60620" y="1577340"/>
            <a:ext cx="365760" cy="365760"/>
          </a:xfrm>
          <a:prstGeom prst="rightArrow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引入3D排样算法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集成CAD图纸导入功能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对接MES生产系统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优化算法性能和用户体验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E889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4A90D9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0"/>
            <a:ext cx="3657600" cy="3657600"/>
          </a:xfrm>
          <a:prstGeom prst="gear6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743200"/>
            <a:ext cx="2743200" cy="2743200"/>
          </a:xfrm>
          <a:prstGeom prst="gear9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3347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73152" cy="51435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 谢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E88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感谢指导教师的悉心指导</a:t>
            </a:r>
            <a:endParaRPr lang="en-US" sz="18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E88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感谢各位评委老师的宝贵意见</a:t>
            </a:r>
            <a:endParaRPr lang="en-US" sz="18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E88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感谢同学们的帮助与支持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请各位老师批评指正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柜门板材切割排版系统 - 毕业设计答辩</dc:title>
  <dc:subject>PptxGenJS Presentation</dc:subject>
  <dc:creator>青舶</dc:creator>
  <cp:lastModifiedBy>青舶</cp:lastModifiedBy>
  <cp:revision>1</cp:revision>
  <dcterms:created xsi:type="dcterms:W3CDTF">2026-05-25T10:07:37Z</dcterms:created>
  <dcterms:modified xsi:type="dcterms:W3CDTF">2026-05-25T10:07:37Z</dcterms:modified>
</cp:coreProperties>
</file>